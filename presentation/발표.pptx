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보정 점</c:v>
                </c:pt>
              </c:strCache>
            </c:strRef>
          </c:tx>
          <c:spPr>
            <a:solidFill>
              <a:srgbClr val="2F5597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F5597"/>
              </a:solidFill>
              <a:ln w="9525" cap="flat">
                <a:solidFill>
                  <a:srgbClr val="2F5597"/>
                </a:solidFill>
                <a:prstDash val="solid"/>
                <a:round/>
              </a:ln>
              <a:effectLst/>
            </c:spPr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-12.39</c:v>
                </c:pt>
                <c:pt idx="1">
                  <c:v>-11.55</c:v>
                </c:pt>
                <c:pt idx="2">
                  <c:v>-11.23</c:v>
                </c:pt>
                <c:pt idx="3">
                  <c:v>-8.71</c:v>
                </c:pt>
                <c:pt idx="4">
                  <c:v>-4.07</c:v>
                </c:pt>
                <c:pt idx="5">
                  <c:v>-3.26</c:v>
                </c:pt>
                <c:pt idx="6">
                  <c:v>-2.47</c:v>
                </c:pt>
                <c:pt idx="7">
                  <c:v>-2.38</c:v>
                </c:pt>
                <c:pt idx="8">
                  <c:v>3.56</c:v>
                </c:pt>
                <c:pt idx="9">
                  <c:v>3.93</c:v>
                </c:pt>
                <c:pt idx="10">
                  <c:v>4.13</c:v>
                </c:pt>
                <c:pt idx="11">
                  <c:v>4.41</c:v>
                </c:pt>
                <c:pt idx="12">
                  <c:v>9.36</c:v>
                </c:pt>
                <c:pt idx="13">
                  <c:v>9.89</c:v>
                </c:pt>
                <c:pt idx="14">
                  <c:v>11.22</c:v>
                </c:pt>
                <c:pt idx="15">
                  <c:v>11.66</c:v>
                </c:pt>
              </c:numCache>
            </c:numRef>
          </c:xVal>
          <c:yVal>
            <c:numRef>
              <c:f>Sheet1!$B$2:$B$17</c:f>
              <c:numCache>
                <c:formatCode>General</c:formatCode>
                <c:ptCount val="16"/>
                <c:pt idx="0">
                  <c:v>77</c:v>
                </c:pt>
                <c:pt idx="1">
                  <c:v>77</c:v>
                </c:pt>
                <c:pt idx="2">
                  <c:v>77</c:v>
                </c:pt>
                <c:pt idx="3">
                  <c:v>77</c:v>
                </c:pt>
                <c:pt idx="4">
                  <c:v>672</c:v>
                </c:pt>
                <c:pt idx="5">
                  <c:v>672</c:v>
                </c:pt>
                <c:pt idx="6">
                  <c:v>672</c:v>
                </c:pt>
                <c:pt idx="7">
                  <c:v>672</c:v>
                </c:pt>
                <c:pt idx="8">
                  <c:v>1248</c:v>
                </c:pt>
                <c:pt idx="9">
                  <c:v>1248</c:v>
                </c:pt>
                <c:pt idx="10">
                  <c:v>1248</c:v>
                </c:pt>
                <c:pt idx="11">
                  <c:v>1248</c:v>
                </c:pt>
                <c:pt idx="12">
                  <c:v>1843</c:v>
                </c:pt>
                <c:pt idx="13">
                  <c:v>1843</c:v>
                </c:pt>
                <c:pt idx="14">
                  <c:v>1843</c:v>
                </c:pt>
                <c:pt idx="15">
                  <c:v>1843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구한 식</c:v>
                </c:pt>
              </c:strCache>
            </c:strRef>
          </c:tx>
          <c:spPr>
            <a:solidFill>
              <a:srgbClr val="C00000"/>
            </a:solidFill>
            <a:ln w="22225">
              <a:solidFill>
                <a:srgbClr val="C00000"/>
              </a:solidFill>
            </a:ln>
            <a:effectLst/>
          </c:spPr>
          <c:marker>
            <c:symbol val="none"/>
            <c:size val="6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-12.39</c:v>
                </c:pt>
                <c:pt idx="1">
                  <c:v>-11.55</c:v>
                </c:pt>
                <c:pt idx="2">
                  <c:v>-11.23</c:v>
                </c:pt>
                <c:pt idx="3">
                  <c:v>-8.71</c:v>
                </c:pt>
                <c:pt idx="4">
                  <c:v>-4.07</c:v>
                </c:pt>
                <c:pt idx="5">
                  <c:v>-3.26</c:v>
                </c:pt>
                <c:pt idx="6">
                  <c:v>-2.47</c:v>
                </c:pt>
                <c:pt idx="7">
                  <c:v>-2.38</c:v>
                </c:pt>
                <c:pt idx="8">
                  <c:v>3.56</c:v>
                </c:pt>
                <c:pt idx="9">
                  <c:v>3.93</c:v>
                </c:pt>
                <c:pt idx="10">
                  <c:v>4.13</c:v>
                </c:pt>
                <c:pt idx="11">
                  <c:v>4.41</c:v>
                </c:pt>
                <c:pt idx="12">
                  <c:v>9.36</c:v>
                </c:pt>
                <c:pt idx="13">
                  <c:v>9.89</c:v>
                </c:pt>
                <c:pt idx="14">
                  <c:v>11.22</c:v>
                </c:pt>
                <c:pt idx="15">
                  <c:v>11.66</c:v>
                </c:pt>
              </c:numCache>
            </c:numRef>
          </c:xVal>
          <c:yVal>
            <c:numRef>
              <c:f>Sheet1!$C$2:$C$17</c:f>
              <c:numCache>
                <c:formatCode>General</c:formatCode>
                <c:ptCount val="16"/>
                <c:pt idx="0">
                  <c:v>-53</c:v>
                </c:pt>
                <c:pt idx="1">
                  <c:v>15</c:v>
                </c:pt>
                <c:pt idx="2">
                  <c:v>41</c:v>
                </c:pt>
                <c:pt idx="3">
                  <c:v>245</c:v>
                </c:pt>
                <c:pt idx="4">
                  <c:v>620</c:v>
                </c:pt>
                <c:pt idx="5">
                  <c:v>686</c:v>
                </c:pt>
                <c:pt idx="6">
                  <c:v>750</c:v>
                </c:pt>
                <c:pt idx="7">
                  <c:v>757</c:v>
                </c:pt>
                <c:pt idx="8">
                  <c:v>1237</c:v>
                </c:pt>
                <c:pt idx="9">
                  <c:v>1267</c:v>
                </c:pt>
                <c:pt idx="10">
                  <c:v>1283</c:v>
                </c:pt>
                <c:pt idx="11">
                  <c:v>1306</c:v>
                </c:pt>
                <c:pt idx="12">
                  <c:v>1706</c:v>
                </c:pt>
                <c:pt idx="13">
                  <c:v>1749</c:v>
                </c:pt>
                <c:pt idx="14">
                  <c:v>1857</c:v>
                </c:pt>
                <c:pt idx="15">
                  <c:v>1892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222222"/>
                    </a:solidFill>
                    <a:latin typeface="+mn-lt"/>
                  </a:rPr>
                  <a:t>yaw (도)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20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222222"/>
                    </a:solidFill>
                    <a:latin typeface="+mn-lt"/>
                  </a:rPr>
                  <a:t>화면 x 좌표 (px)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500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22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필터 전</c:v>
                </c:pt>
              </c:strCache>
            </c:strRef>
          </c:tx>
          <c:spPr>
            <a:solidFill>
              <a:srgbClr val="8C8C8C"/>
            </a:solidFill>
            <a:ln w="19050" cap="flat">
              <a:solidFill>
                <a:srgbClr val="8C8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5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632</c:v>
                </c:pt>
                <c:pt idx="1">
                  <c:v>529</c:v>
                </c:pt>
                <c:pt idx="2">
                  <c:v>629</c:v>
                </c:pt>
                <c:pt idx="3">
                  <c:v>595</c:v>
                </c:pt>
                <c:pt idx="4">
                  <c:v>668</c:v>
                </c:pt>
                <c:pt idx="5">
                  <c:v>649</c:v>
                </c:pt>
                <c:pt idx="6">
                  <c:v>540</c:v>
                </c:pt>
                <c:pt idx="7">
                  <c:v>602</c:v>
                </c:pt>
                <c:pt idx="8">
                  <c:v>668</c:v>
                </c:pt>
                <c:pt idx="9">
                  <c:v>630</c:v>
                </c:pt>
                <c:pt idx="10">
                  <c:v>623</c:v>
                </c:pt>
                <c:pt idx="11">
                  <c:v>612</c:v>
                </c:pt>
                <c:pt idx="12">
                  <c:v>1166</c:v>
                </c:pt>
                <c:pt idx="13">
                  <c:v>1165</c:v>
                </c:pt>
                <c:pt idx="14">
                  <c:v>1080</c:v>
                </c:pt>
                <c:pt idx="15">
                  <c:v>1074</c:v>
                </c:pt>
                <c:pt idx="16">
                  <c:v>1154</c:v>
                </c:pt>
                <c:pt idx="17">
                  <c:v>1073</c:v>
                </c:pt>
                <c:pt idx="18">
                  <c:v>1044</c:v>
                </c:pt>
                <c:pt idx="19">
                  <c:v>1068</c:v>
                </c:pt>
                <c:pt idx="20">
                  <c:v>1089</c:v>
                </c:pt>
                <c:pt idx="21">
                  <c:v>1067</c:v>
                </c:pt>
                <c:pt idx="22">
                  <c:v>1170</c:v>
                </c:pt>
                <c:pt idx="23">
                  <c:v>1109</c:v>
                </c:pt>
                <c:pt idx="24">
                  <c:v>1137</c:v>
                </c:pt>
                <c:pt idx="25">
                  <c:v>1160</c:v>
                </c:pt>
                <c:pt idx="26">
                  <c:v>1029</c:v>
                </c:pt>
                <c:pt idx="27">
                  <c:v>1064</c:v>
                </c:pt>
                <c:pt idx="28">
                  <c:v>1110</c:v>
                </c:pt>
                <c:pt idx="29">
                  <c:v>1101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지수평균 적용 후</c:v>
                </c:pt>
              </c:strCache>
            </c:strRef>
          </c:tx>
          <c:spPr>
            <a:solidFill>
              <a:srgbClr val="2F5597"/>
            </a:solidFill>
            <a:ln w="19050" cap="flat">
              <a:solidFill>
                <a:srgbClr val="2F559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5597"/>
              </a:solidFill>
              <a:ln w="9525" cap="flat">
                <a:solidFill>
                  <a:srgbClr val="2F559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5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632</c:v>
                </c:pt>
                <c:pt idx="1">
                  <c:v>622</c:v>
                </c:pt>
                <c:pt idx="2">
                  <c:v>622</c:v>
                </c:pt>
                <c:pt idx="3">
                  <c:v>620</c:v>
                </c:pt>
                <c:pt idx="4">
                  <c:v>625</c:v>
                </c:pt>
                <c:pt idx="5">
                  <c:v>627</c:v>
                </c:pt>
                <c:pt idx="6">
                  <c:v>618</c:v>
                </c:pt>
                <c:pt idx="7">
                  <c:v>617</c:v>
                </c:pt>
                <c:pt idx="8">
                  <c:v>622</c:v>
                </c:pt>
                <c:pt idx="9">
                  <c:v>623</c:v>
                </c:pt>
                <c:pt idx="10">
                  <c:v>623</c:v>
                </c:pt>
                <c:pt idx="11">
                  <c:v>622</c:v>
                </c:pt>
                <c:pt idx="12">
                  <c:v>676</c:v>
                </c:pt>
                <c:pt idx="13">
                  <c:v>725</c:v>
                </c:pt>
                <c:pt idx="14">
                  <c:v>760</c:v>
                </c:pt>
                <c:pt idx="15">
                  <c:v>792</c:v>
                </c:pt>
                <c:pt idx="16">
                  <c:v>828</c:v>
                </c:pt>
                <c:pt idx="17">
                  <c:v>853</c:v>
                </c:pt>
                <c:pt idx="18">
                  <c:v>872</c:v>
                </c:pt>
                <c:pt idx="19">
                  <c:v>891</c:v>
                </c:pt>
                <c:pt idx="20">
                  <c:v>911</c:v>
                </c:pt>
                <c:pt idx="21">
                  <c:v>927</c:v>
                </c:pt>
                <c:pt idx="22">
                  <c:v>951</c:v>
                </c:pt>
                <c:pt idx="23">
                  <c:v>967</c:v>
                </c:pt>
                <c:pt idx="24">
                  <c:v>984</c:v>
                </c:pt>
                <c:pt idx="25">
                  <c:v>1001</c:v>
                </c:pt>
                <c:pt idx="26">
                  <c:v>1004</c:v>
                </c:pt>
                <c:pt idx="27">
                  <c:v>1010</c:v>
                </c:pt>
                <c:pt idx="28">
                  <c:v>1020</c:v>
                </c:pt>
                <c:pt idx="29">
                  <c:v>1028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222222"/>
                    </a:solidFill>
                    <a:latin typeface="+mn-lt"/>
                  </a:rPr>
                  <a:t>프레임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  <c:min val="40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222222"/>
                    </a:solidFill>
                    <a:latin typeface="+mn-lt"/>
                  </a:rPr>
                  <a:t>화면 x 좌표 (px)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22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웹캠 시선 추적을 이용해 웹페이지를 조작하는 크롬 확장 프로그램에 대해 발표하겠습니다.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손을 사용하기 어려운 분들은 마우스로 웹페이지를 조작하기 어렵습니다. 시선 추적 전용 장비가 있지만 가격이 비싸 쉽게 구하기 어렵습니다. 그래서 일반 웹캠 하나만으로 바라보는 위치를 추정하고, 그 위치의 버튼을 선택해 클릭하는 프로그램을 만드는 것을 목표로 했습니다. 이 프로그램은 마우스 커서를 움직이지 않고, 웹페이지의 버튼에 클릭 명령을 보내는 방식으로 동작합니다.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프로그램은 Python 서버와 크롬 확장 프로그램 두 부분으로 구성됩니다. Python 서버는 웹캠 영상에서 얼굴 점을 찾고 시선 각도를 계산합니다. 이 결과는 같은 컴퓨터 안에서 WebSocket으로 크롬 확장에 전달되고, 크롬 확장이 화면 좌표 변환, 버튼 선택, 클릭을 처리합니다. 웹캠 영상은 외부로 전송하지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곳을 보더라도 고개 각도나 카메라와의 거리가 달라지면 카메라에 찍히는 눈의 모양이 달라집니다. 그래서 먼저 얼굴 점 6개로 머리 자세를 계산하고, 얼굴을 정면에서 일정한 거리로 본 것처럼 224×224 이미지로 바꿉니다. 이 이미지를 GazeTR-Hybrid 모델에 넣으면, CNN이 눈 모양의 특징을 뽑고 Transformer가 특징 사이의 관계를 분석해서 시선의 위아래 각도와 좌우 각도를 출력합니다. 모델은 ETH-XGaze 데이터셋으로 학습된 공개 가중치를 사용했습니다.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사람마다 눈의 모양과 앉은 위치가 달라서, 같은 시선 각도라도 실제로 보는 화면 위치가 다릅니다. 그래서 사용 전에 보정을 합니다. 화면에 나타나는 점 16개를 차례로 보게 해서 시선 각도와 화면 좌표의 쌍을 모으고, 최소제곱법으로 식의 계수를 구합니다. 2차식은 새로운 위치에서 오차가 커질 수 있어서, 교차검증 오차가 1차식보다 15% 이상 작을 때만 사용합니다. 마지막으로 보정에 쓰지 않은 점 5개로 실제 오차를 확인합니다. 오른쪽 그래프는 이해를 돕기 위한 예시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시선 추정 결과는 한 곳을 바라보고 있어도 계속 흔들립니다. 그래서 두 가지 필터를 적용해 비교했습니다. 이동평균은 최근 좌표 20개의 평균이고, 지수평균은 새 값에 0.1, 이전 결과에 0.9를 곱해 더합니다. 처음에는 5개와 0.45로 했지만 떨림이 남아서 더 강하게 바꿨습니다. 필터를 강하게 적용할수록 움직임은 부드러워지지만 시선을 옮겼을 때 따라가는 속도는 느려집니다. 현재는 지수평균을 기본으로 사용합니다. 오른쪽 그래프는 예시 좌표에 프로젝트의 지수평균 코드를 그대로 적용한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시선 좌표에서 가장 가까운 버튼을 선택 대상으로 정합니다. 시선이 조금 흔들릴 때마다 대상이 바뀌지 않도록, 같은 버튼이 0.3초 동안 계속 가장 가까워야 선택하고, 새 버튼이 30px 이상 더 가까울 때만 선택을 바꿉니다. 클릭은 입 벌림 비율로 판단합니다. 입술 위아래 거리를 입 너비로 나눈 값이라서, 얼굴이 카메라에서 멀어져도 값이 크게 달라지지 않습니다. 0.30보다 크면 벌린 것, 0.20보다 작으면 다문 것으로 보고, 그 사이에서는 이전 상태를 유지합니다. 입을 0.5초에서 2초 사이로 벌렸다가 다물면 클릭하고, 말할 때처럼 짧게 벌린 경우는 무시합니다.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영상입니다. 처음에는 화면의 초록 점을 차례로 바라보며 보정을 하고, 이 과정은 14배속으로 보여드립니다. 그다음 테스트 페이지에서 작은 버튼 12개를 1번부터 순서대로 바라보고 입을 벌렸다 다물어 클릭합니다. 마지막으로 구글 검색 결과와 실제 학교 홈페이지 메뉴를 같은 방법으로 클릭합니다. 보정 이후는 1.7배속입니다.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88036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8-1.mp4"/><Relationship Id="rId2" Type="http://schemas.microsoft.com/office/2007/relationships/media" Target="../media/media-8-1.mp4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웹캠 시선 추적을 이용한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웹페이지 조작 크롬 확장 프로그램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AI 앱 개발 프로젝트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학번  이름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 프로젝트 동기와 목표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2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손을 사용하기 어려운 사람은 마우스로 웹페이지를 조작하기 어렵고, 시선 추적 전용 장비는 가격이 비싸다.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2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이 프로젝트는 일반 웹캠 하나로 사용자가 바라보는 버튼을 찾아 클릭하는 크롬 확장 프로그램을 목표로 하였다.</a:t>
            </a:r>
            <a:endParaRPr lang="en-US" sz="1800" dirty="0"/>
          </a:p>
        </p:txBody>
      </p:sp>
      <p:sp>
        <p:nvSpPr>
          <p:cNvPr id="5" name="goal step 1"/>
          <p:cNvSpPr/>
          <p:nvPr/>
        </p:nvSpPr>
        <p:spPr>
          <a:xfrm>
            <a:off x="457200" y="3154680"/>
            <a:ext cx="2377440" cy="960120"/>
          </a:xfrm>
          <a:prstGeom prst="rect">
            <a:avLst/>
          </a:prstGeom>
          <a:solidFill>
            <a:schemeClr val="bg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1546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① 바라보기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웹캠으로 시선 위치 추정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26080" y="3634740"/>
            <a:ext cx="3657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" name="goal step 2"/>
          <p:cNvSpPr/>
          <p:nvPr/>
        </p:nvSpPr>
        <p:spPr>
          <a:xfrm>
            <a:off x="3383280" y="3154680"/>
            <a:ext cx="2377440" cy="960120"/>
          </a:xfrm>
          <a:prstGeom prst="rect">
            <a:avLst/>
          </a:prstGeom>
          <a:solidFill>
            <a:schemeClr val="bg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31546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② 고르기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시선 근처의 버튼 선택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52160" y="3634740"/>
            <a:ext cx="3657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goal step 3"/>
          <p:cNvSpPr/>
          <p:nvPr/>
        </p:nvSpPr>
        <p:spPr>
          <a:xfrm>
            <a:off x="6309360" y="3154680"/>
            <a:ext cx="2377440" cy="960120"/>
          </a:xfrm>
          <a:prstGeom prst="rect">
            <a:avLst/>
          </a:prstGeom>
          <a:solidFill>
            <a:schemeClr val="bg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31546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③ 클릭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입을 벌렸다 다물기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 시스템 구성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두 부분은 같은 컴퓨터 안에서만 통신하며, 웹캠 영상은 외부로 보내지 않는다.</a:t>
            </a:r>
            <a:endParaRPr lang="en-US" sz="1500" dirty="0"/>
          </a:p>
        </p:txBody>
      </p:sp>
      <p:sp>
        <p:nvSpPr>
          <p:cNvPr id="5" name="Python 서버 panel"/>
          <p:cNvSpPr/>
          <p:nvPr/>
        </p:nvSpPr>
        <p:spPr>
          <a:xfrm>
            <a:off x="457200" y="1554480"/>
            <a:ext cx="3566160" cy="2926080"/>
          </a:xfrm>
          <a:prstGeom prst="rect">
            <a:avLst/>
          </a:prstGeom>
          <a:solidFill>
            <a:schemeClr val="bg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서버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41248" y="2286000"/>
            <a:ext cx="0" cy="178308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524" y="2208276"/>
            <a:ext cx="155448" cy="15544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웹캠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395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카메라 영상 읽기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3524" y="2802636"/>
            <a:ext cx="155448" cy="15544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4300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MediaPipe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990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얼굴 점 468개, 입 벌림 비율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3524" y="3396996"/>
            <a:ext cx="155448" cy="15544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4300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얼굴 정규화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584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224×224 정면 이미지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3524" y="3991356"/>
            <a:ext cx="155448" cy="15544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4300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GazeTR-Hybrid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178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시선 각도 (pitch, yaw)</a:t>
            </a:r>
            <a:endParaRPr lang="en-US" sz="1100" dirty="0"/>
          </a:p>
        </p:txBody>
      </p:sp>
      <p:sp>
        <p:nvSpPr>
          <p:cNvPr id="21" name="크롬 확장 panel"/>
          <p:cNvSpPr/>
          <p:nvPr/>
        </p:nvSpPr>
        <p:spPr>
          <a:xfrm>
            <a:off x="5120640" y="1554480"/>
            <a:ext cx="3566160" cy="2926080"/>
          </a:xfrm>
          <a:prstGeom prst="rect">
            <a:avLst/>
          </a:prstGeom>
          <a:solidFill>
            <a:schemeClr val="bg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9496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크롬 확장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0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extension/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504688" y="2286000"/>
            <a:ext cx="0" cy="178308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26964" y="2208276"/>
            <a:ext cx="155448" cy="15544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0644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보정 회귀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806440" y="2395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시선 각도 → 화면 좌표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26964" y="2802636"/>
            <a:ext cx="155448" cy="15544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0644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떨림 필터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806440" y="2990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이동평균, 지수평균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26964" y="3396996"/>
            <a:ext cx="155448" cy="15544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80644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대상 선택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806440" y="3584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시선에 가장 가까운 버튼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26964" y="3991356"/>
            <a:ext cx="155448" cy="15544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80644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클릭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4178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입을 벌렸다 다물면 클릭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02336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WebSocket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160520" y="3017520"/>
            <a:ext cx="8229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9" name="Text 36"/>
          <p:cNvSpPr txBox="1"/>
          <p:nvPr/>
        </p:nvSpPr>
        <p:spPr>
          <a:xfrm>
            <a:off x="4023360" y="3127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그림 1. 시스템 구성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 시선 추정 방법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(1) 얼굴 정규화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고개 각도나 거리가 달라지면 눈의 모양도 달라진다. 그래서 얼굴 점으로 머리 자세를 계산하고, 정면에서 본 것처럼 224×224 이미지로 변환한다.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(2) GazeTR-Hybrid 모델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CNN으로 눈 모양의 특징을 뽑고, Transformer로 특징 사이의 관계를 분석하여 시선 각도(pitch, yaw)를 출력한다. (공개된 학습 가중치 사용)</a:t>
            </a:r>
            <a:endParaRPr lang="en-US" sz="1500" dirty="0"/>
          </a:p>
        </p:txBody>
      </p:sp>
      <p:sp>
        <p:nvSpPr>
          <p:cNvPr id="5" name="camera frame"/>
          <p:cNvSpPr/>
          <p:nvPr/>
        </p:nvSpPr>
        <p:spPr>
          <a:xfrm>
            <a:off x="4754880" y="1097280"/>
            <a:ext cx="1737360" cy="1234440"/>
          </a:xfrm>
          <a:prstGeom prst="rect">
            <a:avLst/>
          </a:prstGeom>
          <a:solidFill>
            <a:schemeClr val="bg1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1200000">
            <a:off x="5047488" y="1508760"/>
            <a:ext cx="420624" cy="548640"/>
          </a:xfrm>
          <a:prstGeom prst="ellipse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70173" y="1675412"/>
            <a:ext cx="54681" cy="54681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" name="Shape 5"/>
          <p:cNvSpPr/>
          <p:nvPr/>
        </p:nvSpPr>
        <p:spPr>
          <a:xfrm>
            <a:off x="5328275" y="1732957"/>
            <a:ext cx="54681" cy="54681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754880" y="2377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카메라 영상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1417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정규화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01968" y="1714500"/>
            <a:ext cx="51206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normalized face"/>
          <p:cNvSpPr/>
          <p:nvPr/>
        </p:nvSpPr>
        <p:spPr>
          <a:xfrm>
            <a:off x="7269480" y="1097280"/>
            <a:ext cx="1234440" cy="12344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30084" y="1289304"/>
            <a:ext cx="713232" cy="896112"/>
          </a:xfrm>
          <a:prstGeom prst="ellipse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97694" y="1601389"/>
            <a:ext cx="92720" cy="927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Shape 12"/>
          <p:cNvSpPr/>
          <p:nvPr/>
        </p:nvSpPr>
        <p:spPr>
          <a:xfrm>
            <a:off x="7982986" y="1601389"/>
            <a:ext cx="92720" cy="927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69480" y="2377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224×224</a:t>
            </a:r>
            <a:endParaRPr lang="en-US" sz="1100" dirty="0"/>
          </a:p>
        </p:txBody>
      </p:sp>
      <p:sp>
        <p:nvSpPr>
          <p:cNvPr id="17" name="chip CNN"/>
          <p:cNvSpPr/>
          <p:nvPr/>
        </p:nvSpPr>
        <p:spPr>
          <a:xfrm>
            <a:off x="4754880" y="2971800"/>
            <a:ext cx="114300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29718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CNN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눈 모양 특징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34456" y="3337560"/>
            <a:ext cx="1828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chip Transformer"/>
          <p:cNvSpPr/>
          <p:nvPr/>
        </p:nvSpPr>
        <p:spPr>
          <a:xfrm>
            <a:off x="6149340" y="2971800"/>
            <a:ext cx="114300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49340" y="29718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Transformer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특징 사이 관계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328916" y="3337560"/>
            <a:ext cx="1828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3" name="chip 시선 각도"/>
          <p:cNvSpPr/>
          <p:nvPr/>
        </p:nvSpPr>
        <p:spPr>
          <a:xfrm>
            <a:off x="7543800" y="2971800"/>
            <a:ext cx="1143000" cy="731520"/>
          </a:xfrm>
          <a:prstGeom prst="rect">
            <a:avLst/>
          </a:prstGeom>
          <a:solidFill>
            <a:schemeClr val="bg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43800" y="29718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시선 각도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(pitch, yaw)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754880" y="3840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그림 2. 얼굴 정규화와 GazeTR-Hybrid의 처리 과정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4. 보정: 시선 각도를 화면 좌표로 변환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사람마다 눈 모양과 앉은 위치가 달라, 사용 전에 보정이 필요하다.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(1) 화면의 점 16개를 차례로 보며 (시선 각도, 화면 좌표)를 모은다.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(2) 최소제곱법으로 아래 식의 계수를 구한다.</a:t>
            </a:r>
            <a:endParaRPr lang="en-US" sz="15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a</a:t>
            </a:r>
            <a:pPr algn="ctr" indent="0" marL="0">
              <a:spcAft>
                <a:spcPts val="1200"/>
              </a:spcAft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0</a:t>
            </a:r>
            <a:pPr algn="ct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a</a:t>
            </a:r>
            <a:pPr algn="ctr" indent="0" marL="0">
              <a:spcAft>
                <a:spcPts val="1200"/>
              </a:spcAft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1</a:t>
            </a:r>
            <a:pPr algn="ct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·yaw + a</a:t>
            </a:r>
            <a:pPr algn="ctr" indent="0" marL="0">
              <a:spcAft>
                <a:spcPts val="1200"/>
              </a:spcAft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pPr algn="ct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·pitch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(3) 2차식은 교차검증 오차가 15% 이상 줄 때만 쓴다. (과적합 방지)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(4) 보정에 쓰지 않은 점 5개로 오차를 확인한다.</a:t>
            </a:r>
            <a:endParaRPr lang="en-US" sz="1500" dirty="0"/>
          </a:p>
        </p:txBody>
      </p:sp>
      <p:graphicFrame>
        <p:nvGraphicFramePr>
          <p:cNvPr id="5" name="regression chart" descr=""/>
          <p:cNvGraphicFramePr/>
          <p:nvPr/>
        </p:nvGraphicFramePr>
        <p:xfrm>
          <a:off x="5486400" y="100584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0" y="4343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그림 3. 1차식 보정의 예 (예시 자료)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5. 떨림 줄이기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시선 좌표는 한 곳을 보고 있어도 흔들리므로, 두 가지 필터를 비교하였다.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48463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필터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계산 방법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이동평균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최근 좌표 20개의 평균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지수평균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새 값×0.1 + 이전 결과×0.9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5204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필터가 강할수록 부드럽지만 반응은 느려진다. 기본값은 지수평균이다.</a:t>
            </a:r>
            <a:endParaRPr lang="en-US" sz="1500" dirty="0"/>
          </a:p>
        </p:txBody>
      </p:sp>
      <p:graphicFrame>
        <p:nvGraphicFramePr>
          <p:cNvPr id="7" name="filter chart" descr=""/>
          <p:cNvGraphicFramePr/>
          <p:nvPr/>
        </p:nvGraphicFramePr>
        <p:xfrm>
          <a:off x="5486400" y="100584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0" y="4343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그림 4. 예시 좌표에 지수평균을 적용한 결과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6. 대상 선택과 클릭 판단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(1) 대상 선택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시선에서 가장 가까운 버튼을 고른다. 0.3초 동안 계속 가장 가까워야 선택하고, 30px 이상 더 가까워야 바꾼다.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(2) 클릭 판단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입 벌림 비율(입술 위아래 거리 ÷ 입 너비)을 쓴다. 0.5~2초 동안 벌렸다 다물면 클릭하고, 말할 때처럼 짧게 벌리면 무시한다.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743200"/>
          <a:ext cx="3017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입 벌림 비율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판단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0.30 초과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입을 벌림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0.20 미만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입을 다묾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0.20 ~ 0.30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이전 상태 유지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0" y="4133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표 1. 입 벌림 비율에 따른 판단</a:t>
            </a:r>
            <a:endParaRPr lang="en-US" sz="1100" dirty="0"/>
          </a:p>
        </p:txBody>
      </p:sp>
      <p:sp>
        <p:nvSpPr>
          <p:cNvPr id="7" name="selection figure"/>
          <p:cNvSpPr/>
          <p:nvPr/>
        </p:nvSpPr>
        <p:spPr>
          <a:xfrm>
            <a:off x="5669280" y="1051560"/>
            <a:ext cx="301752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button prev"/>
          <p:cNvSpPr/>
          <p:nvPr/>
        </p:nvSpPr>
        <p:spPr>
          <a:xfrm>
            <a:off x="5897880" y="1280160"/>
            <a:ext cx="1097280" cy="4114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89788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이전</a:t>
            </a:r>
            <a:endParaRPr lang="en-US" sz="1200" dirty="0"/>
          </a:p>
        </p:txBody>
      </p:sp>
      <p:sp>
        <p:nvSpPr>
          <p:cNvPr id="10" name="button next selected"/>
          <p:cNvSpPr/>
          <p:nvPr/>
        </p:nvSpPr>
        <p:spPr>
          <a:xfrm>
            <a:off x="7360920" y="1280160"/>
            <a:ext cx="1097280" cy="411480"/>
          </a:xfrm>
          <a:prstGeom prst="rect">
            <a:avLst/>
          </a:prstGeom>
          <a:solidFill>
            <a:schemeClr val="accent4"/>
          </a:solidFill>
          <a:ln w="31750">
            <a:solidFill>
              <a:schemeClr val="accent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6092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다음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94676" y="1860804"/>
            <a:ext cx="155448" cy="1554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909560" y="1828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시선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23042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그림 5. 시선에 가장 가까운 버튼 선택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7. 시연</a:t>
            </a:r>
            <a:endParaRPr lang="en-US" sz="2400" dirty="0"/>
          </a:p>
        </p:txBody>
      </p:sp>
      <p:pic>
        <p:nvPicPr>
          <p:cNvPr id="3" name="demo 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481328" y="960120"/>
            <a:ext cx="6181344" cy="3474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그림 6. 시연 영상 (보정 과정 14배속, 이후 1.7배속)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ze Report">
  <a:themeElements>
    <a:clrScheme name="Gaze Report">
      <a:dk1>
        <a:srgbClr val="222222"/>
      </a:dk1>
      <a:lt1>
        <a:srgbClr val="FFFFFF"/>
      </a:lt1>
      <a:dk2>
        <a:srgbClr val="1F3864"/>
      </a:dk2>
      <a:lt2>
        <a:srgbClr val="F2F2F2"/>
      </a:lt2>
      <a:accent1>
        <a:srgbClr val="2F5597"/>
      </a:accent1>
      <a:accent2>
        <a:srgbClr val="C00000"/>
      </a:accent2>
      <a:accent3>
        <a:srgbClr val="8C8C8C"/>
      </a:accent3>
      <a:accent4>
        <a:srgbClr val="D9D9D9"/>
      </a:accent4>
      <a:accent5>
        <a:srgbClr val="595959"/>
      </a:accent5>
      <a:accent6>
        <a:srgbClr val="16A37A"/>
      </a:accent6>
      <a:hlink>
        <a:srgbClr val="2F5597"/>
      </a:hlink>
      <a:folHlink>
        <a:srgbClr val="595959"/>
      </a:folHlink>
    </a:clrScheme>
    <a:fontScheme name="Gaze Repor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2026-10-22T19:26:23Z</dcterms:created>
  <dcterms:modified xsi:type="dcterms:W3CDTF">2026-10-22T19:26:23Z</dcterms:modified>
</cp:coreProperties>
</file>